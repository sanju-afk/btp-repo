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23" r:id="rId41"/>
    <p:sldId id="324" r:id="rId42"/>
    <p:sldId id="32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317" autoAdjust="0"/>
  </p:normalViewPr>
  <p:slideViewPr>
    <p:cSldViewPr snapToGrid="0">
      <p:cViewPr varScale="1">
        <p:scale>
          <a:sx n="96" d="100"/>
          <a:sy n="96" d="100"/>
        </p:scale>
        <p:origin x="17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QR-DDQN keeps DDQN's body, replay, epsilon schedule and budget; only the head (40 quantiles) and the action rule change. CVaR-greedy is described as CVaR-sensitive because per-step CVaR selection is not static-CVaR optimal (Lim and Malik, 2022); the threshold arm is the method that targets static CVaR.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CVaR agent buys tail protection with mean cost: both pre-registered tests are decisive, in opposite directions. It does not reach the Almgren-Chriss schedule's tail either. Numbers from out_v2/report.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Front-loading and marketable orders are the correct risk-averse response (Almgren-Chriss), and paying the spread on more of the order is where the extra mean cost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8595360" cy="914400"/>
          </a:xfrm>
        </p:spPr>
        <p:txBody>
          <a:bodyPr/>
          <a:lstStyle/>
          <a:p>
            <a:r>
              <a:rPr sz="3400"/>
              <a:t>Extension: CVaR Distributional Agent</a:t>
            </a:r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1755648" cy="813816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41248" y="1417320"/>
          <a:ext cx="10515600" cy="4114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2514600"/>
                <a:gridCol w="260604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</a:rPr>
                        <a:t>Work</a:t>
                      </a:r>
                    </a:p>
                  </a:txBody>
                  <a:tcPr marL="64008" marR="64008" marT="27432" marB="27432" anchor="ctr">
                    <a:solidFill>
                      <a:srgbClr val="EEF3FB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</a:rPr>
                        <a:t>Approach</a:t>
                      </a:r>
                    </a:p>
                  </a:txBody>
                  <a:tcPr marL="64008" marR="64008" marT="27432" marB="27432" anchor="ctr">
                    <a:solidFill>
                      <a:srgbClr val="EEF3FB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</a:rPr>
                        <a:t>Gap left open</a:t>
                      </a:r>
                    </a:p>
                  </a:txBody>
                  <a:tcPr marL="64008" marR="64008" marT="27432" marB="27432" anchor="ctr">
                    <a:solidFill>
                      <a:srgbClr val="EEF3FB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</a:rPr>
                        <a:t>How this extension responds</a:t>
                      </a:r>
                    </a:p>
                  </a:txBody>
                  <a:tcPr marL="64008" marR="64008" marT="27432" marB="27432" anchor="ctr">
                    <a:solidFill>
                      <a:srgbClr val="EEF3FB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</a:rPr>
                        <a:t>Schnaubelt (2022)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DDQN vs PPO, limit orders, replay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No reactive book, no tail metrics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Same pair in a calibrated reactive book, CVaR95 reported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</a:rPr>
                        <a:t>Espana et al. (2025)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DDQN in a queue-reactive model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Risk-neutral, no shocks, no PPO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Risk-sensitive agents; shocks; DDQN, PPO and QR-DDQN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</a:rPr>
                        <a:t>Min, Moallemi &amp; Maglaras (2022)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CVaR-optimal execution by dynamic programming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Stylised model, no learning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CVaR-sensitive RL in a data-calibrated book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</a:rPr>
                        <a:t>Dabney et al. (2018); Lim &amp; Malik (2022)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QR-DQN; CVaR-greedy is not CVaR-optimal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Never applied to execution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QR-DDQN, CVaR(0.25)-greedy and threshold-CVaR arms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1F1F"/>
                          </a:solidFill>
                        </a:rPr>
                        <a:t>Design (pre-registered)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6 arms × 10 paired seeds, 250k steps, 'mixed'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Primary: CVaR95 and mean IS vs DDQN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1F1F"/>
                          </a:solidFill>
                        </a:rPr>
                        <a:t>Smallest tail effect 1.0 bps; mean margin +0.3 bps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841248" y="43434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spcAft>
                <a:spcPts val="300"/>
              </a:spcAft>
              <a:buChar char="•"/>
            </a:pPr>
            <a:r>
              <a:rPr sz="1250" b="1" i="0">
                <a:solidFill>
                  <a:srgbClr val="1F1F1F"/>
                </a:solidFill>
              </a:rPr>
              <a:t>To our knowledge, the first controlled comparison of value-based, policy-gradient and CVaR-sensitive distributional agents for optimal execution in a data-calibrated queue-reactive book with liquidity shocks, linking tail cost to forced end-of-horizon liquidation</a:t>
            </a:r>
          </a:p>
          <a:p>
            <a:pPr algn="l" marL="201168" indent="-201168">
              <a:spcAft>
                <a:spcPts val="300"/>
              </a:spcAft>
              <a:buChar char="•"/>
            </a:pPr>
            <a:r>
              <a:rPr sz="1250" b="1" i="0">
                <a:solidFill>
                  <a:srgbClr val="1F1F1F"/>
                </a:solidFill>
              </a:rPr>
              <a:t>Novelty is the combination; each ingredient has precedents (literature check: docs/v2/literature_check.md)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8595360" cy="914400"/>
          </a:xfrm>
        </p:spPr>
        <p:txBody>
          <a:bodyPr/>
          <a:lstStyle/>
          <a:p>
            <a:r>
              <a:rPr sz="3400"/>
              <a:t>Results: Tail Down, Mean Up</a:t>
            </a:r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1755648" cy="813816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46720" y="1463040"/>
          <a:ext cx="3291840" cy="26883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8680"/>
                <a:gridCol w="914400"/>
                <a:gridCol w="822960"/>
                <a:gridCol w="685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Agent</a:t>
                      </a:r>
                    </a:p>
                  </a:txBody>
                  <a:tcPr marL="64008" marR="64008" marT="27432" marB="27432" anchor="ctr">
                    <a:solidFill>
                      <a:srgbClr val="EEF3FB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Mean IS</a:t>
                      </a:r>
                    </a:p>
                  </a:txBody>
                  <a:tcPr marL="64008" marR="64008" marT="27432" marB="27432" anchor="ctr">
                    <a:solidFill>
                      <a:srgbClr val="EEF3FB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CVaR95</a:t>
                      </a:r>
                    </a:p>
                  </a:txBody>
                  <a:tcPr marL="64008" marR="64008" marT="27432" marB="27432" anchor="ctr">
                    <a:solidFill>
                      <a:srgbClr val="EEF3FB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Forced</a:t>
                      </a:r>
                    </a:p>
                  </a:txBody>
                  <a:tcPr marL="64008" marR="64008" marT="27432" marB="27432" anchor="ctr">
                    <a:solidFill>
                      <a:srgbClr val="EEF3FB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DDQN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3.03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23.92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8.4%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PPO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3.25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21.60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3.3%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QR-RN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2.92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20.91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5.1%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QR-CVaR25</a:t>
                      </a:r>
                    </a:p>
                  </a:txBody>
                  <a:tcPr marL="64008" marR="64008" marT="27432" marB="27432" anchor="ctr">
                    <a:solidFill>
                      <a:srgbClr val="ECF7F0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4.45</a:t>
                      </a:r>
                    </a:p>
                  </a:txBody>
                  <a:tcPr marL="64008" marR="64008" marT="27432" marB="27432" anchor="ctr">
                    <a:solidFill>
                      <a:srgbClr val="ECF7F0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17.93</a:t>
                      </a:r>
                    </a:p>
                  </a:txBody>
                  <a:tcPr marL="64008" marR="64008" marT="27432" marB="27432" anchor="ctr">
                    <a:solidFill>
                      <a:srgbClr val="ECF7F0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0.4%</a:t>
                      </a:r>
                    </a:p>
                  </a:txBody>
                  <a:tcPr marL="64008" marR="64008" marT="27432" marB="27432" anchor="ctr">
                    <a:solidFill>
                      <a:srgbClr val="ECF7F0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QR-CVaR10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4.66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18.25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0.3%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</a:rPr>
                        <a:t>QR-THR25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4.56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19.89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</a:rPr>
                        <a:t>12.2%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  <a:lnL w="6350">
                      <a:solidFill>
                        <a:srgbClr val="D9D9D6"/>
                      </a:solidFill>
                    </a:lnL>
                    <a:lnR w="6350">
                      <a:solidFill>
                        <a:srgbClr val="D9D9D6"/>
                      </a:solidFill>
                    </a:lnR>
                    <a:lnT w="6350">
                      <a:solidFill>
                        <a:srgbClr val="D9D9D6"/>
                      </a:solidFill>
                    </a:lnT>
                    <a:lnB w="6350">
                      <a:solidFill>
                        <a:srgbClr val="D9D9D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046720" y="434340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1168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1F1F1F"/>
                </a:solidFill>
              </a:rPr>
              <a:t>Mean IS and CVaR95 in bps, averaged over A–D3; Forced = share of X sold by the forced order at T</a:t>
            </a:r>
          </a:p>
          <a:p>
            <a:pPr algn="l" marL="201168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1F1F1F"/>
                </a:solidFill>
              </a:rPr>
              <a:t>AC baseline still has the thinnest tail: 4.65 mean, 14.62 CVaR95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434840"/>
            <a:ext cx="6949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A5A57"/>
                </a:solidFill>
              </a:rPr>
              <a:t>Pre-registered contrasts, QR-CVaR25 minus DDQN, 10 paired seeds, 95% 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84632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8408" y="4919472"/>
            <a:ext cx="30175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AF7A"/>
                </a:solidFill>
              </a:rPr>
              <a:t>CVaR95 −6.00 bps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5504688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</a:rPr>
              <a:t>[−7.27, −4.59]; beyond the 1.0 bps threshold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84632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80560" y="4919472"/>
            <a:ext cx="31546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03090"/>
                </a:solidFill>
              </a:rPr>
              <a:t>Mean +1.42 bps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504688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</a:rPr>
              <a:t>[+1.26, +1.58]; not within the +0.3 bps margin</a:t>
            </a:r>
          </a:p>
        </p:txBody>
      </p:sp>
      <p:pic>
        <p:nvPicPr>
          <p:cNvPr id="21" name="Picture 20" descr="fig_cvar_vs_m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71600"/>
            <a:ext cx="466344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760"/>
            <a:ext cx="8595360" cy="914400"/>
          </a:xfrm>
        </p:spPr>
        <p:txBody>
          <a:bodyPr/>
          <a:lstStyle/>
          <a:p>
            <a:r>
              <a:rPr sz="3400"/>
              <a:t>Mechanism: The Forced Sweep</a:t>
            </a:r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1755648" cy="813816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154680" cy="2194560"/>
          </a:xfrm>
          <a:prstGeom prst="roundRect">
            <a:avLst>
              <a:gd name="adj" fmla="val 6000"/>
            </a:avLst>
          </a:prstGeom>
          <a:solidFill>
            <a:srgbClr val="FB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21040" y="1481328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</a:rPr>
              <a:t>Tail = forced sweep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01952"/>
            <a:ext cx="2926080" cy="1691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</a:rPr>
              <a:t>DDQN's worst 5% of episodes sell 46% of X at T, vs 6% in the rest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</a:rPr>
              <a:t>QR-CVaR25 leaves 0.4% to the sweep: limit orders 77% → 20%, inventory at the shock 19% → 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749039"/>
            <a:ext cx="3154680" cy="2194560"/>
          </a:xfrm>
          <a:prstGeom prst="roundRect">
            <a:avLst>
              <a:gd name="adj" fmla="val 6000"/>
            </a:avLst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21040" y="3813048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28F45"/>
                </a:solidFill>
              </a:rPr>
              <a:t>Risk rule, not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33672"/>
            <a:ext cx="2926080" cy="1691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</a:rPr>
              <a:t>Same hyperparameters: CVaR rule moves CVaR95 by −5.09 bps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</a:rPr>
              <a:t>Risk-neutral QR at DDQN's update rate: −0.91 bps, CI spans 0 (exploratory)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663440"/>
            <a:ext cx="7132320" cy="1325880"/>
          </a:xfrm>
          <a:prstGeom prst="roundRect">
            <a:avLst>
              <a:gd name="adj" fmla="val 6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87552" y="4727448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03090"/>
                </a:solidFill>
              </a:rPr>
              <a:t>Answer to the open question, and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093208"/>
            <a:ext cx="68580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</a:rPr>
              <a:t>Changing only the action rule moves the tail more than the DDQN–PPO gap: the tail follows risk-aversion, not the algorithm family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</a:rPr>
              <a:t>Limits: one stock, one day; 10 seeds; threshold rule weaker; learned quantiles understate the tail</a:t>
            </a:r>
          </a:p>
        </p:txBody>
      </p:sp>
      <p:pic>
        <p:nvPicPr>
          <p:cNvPr id="21" name="Picture 20" descr="fig_force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71600"/>
            <a:ext cx="6192521" cy="30962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253</Words>
  <Application>Microsoft Macintosh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BTP Title (as agreed upon by the Guide)</vt:lpstr>
      <vt:lpstr>Introduction</vt:lpstr>
      <vt:lpstr>Literature Review</vt:lpstr>
      <vt:lpstr>Motivation (Optional)</vt:lpstr>
      <vt:lpstr>Problem Statement</vt:lpstr>
      <vt:lpstr>Architecture</vt:lpstr>
      <vt:lpstr>Experimental Results</vt:lpstr>
      <vt:lpstr>Demonstration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Jeena Thomas</cp:lastModifiedBy>
  <cp:revision>286</cp:revision>
  <dcterms:created xsi:type="dcterms:W3CDTF">2021-08-20T07:15:07Z</dcterms:created>
  <dcterms:modified xsi:type="dcterms:W3CDTF">2026-09-24T08:22:39Z</dcterms:modified>
</cp:coreProperties>
</file>